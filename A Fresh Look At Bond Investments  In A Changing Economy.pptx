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264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Karan Sayal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c39fb22f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c39fb22f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Karan Sayal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c39fb22f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c39fb22f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Karan Sayal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cecda41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cecda41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Jonathan Soler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145% tariff on Chinese imports is causing cargo shipments from China to plummet and prompting major retailer to warn of likely price hikes and shortage of supplies. S&amp;P 500 has dropped by 6% since the beginning of the year when the new administration took over ushering in the new tariff policy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c3a6a53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c3a6a53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 Fisher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cecda41a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cecda41a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 Fisher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cecda41a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cecda41a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5-Year Treasury Yield in last 5 years -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28 2020 - 0.37%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27 2021 - 0.88%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26 2022 - 2.79%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25 2023 - 4.95%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29 2024 - 4.65%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25 2025 - 3.98%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da67ad76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da67ad76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a67ad76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da67ad76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Deepak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a89e196e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a89e196e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51d2adb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51d2adb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51d2adbc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51d2adbc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cecda41a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cecda41a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43000" y="925829"/>
            <a:ext cx="6858000" cy="1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2900" y="342900"/>
            <a:ext cx="2203477" cy="582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3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4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5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6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7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8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9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0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1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64333" y="4767263"/>
            <a:ext cx="416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2" descr="A red letter 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9280" y="4794095"/>
            <a:ext cx="277063" cy="20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ctrTitle"/>
          </p:nvPr>
        </p:nvSpPr>
        <p:spPr>
          <a:xfrm>
            <a:off x="54000" y="1370500"/>
            <a:ext cx="9090000" cy="1262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 b="1"/>
              <a:t>A Fresh Look At Bond Investments </a:t>
            </a:r>
            <a:endParaRPr sz="388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 b="1"/>
              <a:t>In A Changing Economy</a:t>
            </a:r>
            <a:endParaRPr sz="3880" b="1"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1198050" y="2761650"/>
            <a:ext cx="6801900" cy="1509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Fixed Income Investment Model for Goldman Sachs</a:t>
            </a:r>
            <a:endParaRPr sz="2400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/>
              <a:t>by RBS Team</a:t>
            </a:r>
            <a:endParaRPr sz="240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58"/>
              <a:t>Karan Sayal, Jonathan Soler, Thomas Fisher, Sid Basu,</a:t>
            </a:r>
            <a:endParaRPr sz="1258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58"/>
              <a:t>Deepak Tammineni, Michael Winans</a:t>
            </a:r>
            <a:endParaRPr sz="1258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450" y="165100"/>
            <a:ext cx="1575174" cy="7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615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457200" lvl="0" indent="-3365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500" b="1">
                <a:solidFill>
                  <a:schemeClr val="dk1"/>
                </a:solidFill>
              </a:rPr>
              <a:t>Goldman Sachs Challenge</a:t>
            </a:r>
            <a:endParaRPr sz="15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500" b="1">
                <a:solidFill>
                  <a:schemeClr val="dk1"/>
                </a:solidFill>
              </a:rPr>
              <a:t>Market Overview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500">
                <a:solidFill>
                  <a:schemeClr val="dk1"/>
                </a:solidFill>
              </a:rPr>
              <a:t>Investing In An Uncertain Economy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Reassurance in Market Volatility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Bond Overview</a:t>
            </a:r>
            <a:endParaRPr sz="15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500" b="1">
                <a:solidFill>
                  <a:schemeClr val="dk1"/>
                </a:solidFill>
              </a:rPr>
              <a:t>Product Delivery</a:t>
            </a:r>
            <a:endParaRPr sz="1500" b="1">
              <a:solidFill>
                <a:schemeClr val="dk1"/>
              </a:solidFill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 Fixed Income Portfolio Model To The Rescue</a:t>
            </a:r>
            <a:endParaRPr sz="1500">
              <a:solidFill>
                <a:schemeClr val="dk1"/>
              </a:solidFill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Scenario Testing for Portfolio Optimization and Risk Management with Uncertain Markets</a:t>
            </a:r>
            <a:endParaRPr sz="1500">
              <a:solidFill>
                <a:schemeClr val="dk1"/>
              </a:solidFill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3 Scenario </a:t>
            </a:r>
            <a:r>
              <a:rPr lang="en" sz="1500"/>
              <a:t>M</a:t>
            </a:r>
            <a:r>
              <a:rPr lang="en" sz="1500">
                <a:solidFill>
                  <a:schemeClr val="dk1"/>
                </a:solidFill>
              </a:rPr>
              <a:t>odel in action</a:t>
            </a:r>
            <a:endParaRPr sz="1500">
              <a:solidFill>
                <a:schemeClr val="dk1"/>
              </a:solidFill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Historical ETF Investing Approach</a:t>
            </a:r>
            <a:endParaRPr sz="1500">
              <a:solidFill>
                <a:schemeClr val="dk1"/>
              </a:solidFill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en" sz="1500">
                <a:solidFill>
                  <a:schemeClr val="dk1"/>
                </a:solidFill>
              </a:rPr>
              <a:t>Go to Market Strategy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Goldman Sachs Challenge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Individual investors traditionally favor laddered municipal bond portfolios due to their tax-exempt nature. However, proposed tax reforms could impact the exemption status of municipal bonds, necessitating a reevaluation of fixed-income investment strategies. The challenge is to develop a tax-aware, multi-asset-class model that considers: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Potential changes in taxation of municipal bonds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Optimization of fixed-income allocation across various asset classes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•"/>
            </a:pPr>
            <a:r>
              <a:rPr lang="en" sz="1500">
                <a:solidFill>
                  <a:schemeClr val="dk1"/>
                </a:solidFill>
              </a:rPr>
              <a:t>Dynamic portfolio adjustments based on evolving market conditions, cost basis, and tax implications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Investing In An Uncertain Economy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025" y="1298111"/>
            <a:ext cx="1430724" cy="1430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824800" y="2991363"/>
            <a:ext cx="14307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S&amp;P 500 decline by 6% due to new tariff plan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846025" y="3005088"/>
            <a:ext cx="14307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Ripple effect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federal layoffs on local economy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7250" y="1298113"/>
            <a:ext cx="1430724" cy="143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4867250" y="2991363"/>
            <a:ext cx="14307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 deportation would result in loss of $100B+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6888475" y="3005088"/>
            <a:ext cx="14307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TCJA would raise after-tax return on investment by 3%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8475" y="1298113"/>
            <a:ext cx="1430725" cy="143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 rotWithShape="1">
          <a:blip r:embed="rId6">
            <a:alphaModFix/>
          </a:blip>
          <a:srcRect l="20830" r="21305"/>
          <a:stretch/>
        </p:blipFill>
        <p:spPr>
          <a:xfrm>
            <a:off x="850250" y="1298137"/>
            <a:ext cx="1379803" cy="143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381150" y="3948825"/>
            <a:ext cx="8451300" cy="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Economic uncertainty makes investment decisions riskier since it is harder for companies to accurately predict their future earnings during uncertain times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Reassurance in Market Volatility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454050" y="3148975"/>
            <a:ext cx="82359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volatility index rose as high as 52, first time since COVID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fear and risk in the stock market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enforces the importance of fixed income in a client’s overall Asset Allocation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money into fixed income for portfolio diversification, optimal yield, downside protection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54050" y="4581475"/>
            <a:ext cx="23361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Source: Ycharts VIX trend on 4.4.25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0" y="1170125"/>
            <a:ext cx="8378251" cy="1914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Bonds: A Low Risk Investment Vehicle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311700" y="1152144"/>
            <a:ext cx="27927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Municipal Bonds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Debt securities issued by state and local governments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 paid is often tax-free, making it attractive for individuals in high tax brackets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risk is 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carry call provisions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3200425" y="1152144"/>
            <a:ext cx="27927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Treasury Bonds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Risk-free US govt-issued debt securities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taxable at the federal level, but not at the state level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 fixed semi-annual interest until maturity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maturity, owner is paid a par amount equal to the principal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089125" y="1152144"/>
            <a:ext cx="27927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Bonds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Debt securities issued by a corporation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Taxable at federal and state levels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risk than Treasury and Muni bonds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carry call provisions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381150" y="3948825"/>
            <a:ext cx="8451300" cy="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Bonds are lower-risk and lower-return investments than stocks, which makes them an essential component of a balanced investment portfolio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/>
        </p:nvSpPr>
        <p:spPr>
          <a:xfrm>
            <a:off x="381150" y="3948825"/>
            <a:ext cx="8451300" cy="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Allow this model to determine optimal fixed income allocation based on client tax scenarios and which bonds make sense based on resulting Tax Equivalent Yields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Fixed Income Portfolio Model To The Rescue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5207025" y="1152144"/>
            <a:ext cx="3319800" cy="22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Features: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scenarios based on investment preferences (high yield vs secure bonds vs stable income)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 laddering strategy for risk adjusted returns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Yield curves and cash flow analysis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705650" y="1152144"/>
            <a:ext cx="3319800" cy="22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Considerations: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tax law changes under the new administration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Bond yields have changed a lot over the last 5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FED began cutting rates in 2024 but is now on pause in 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864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Scenario Testing for Portfolio Optimization and Risk Management with Uncertain Markets</a:t>
            </a:r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4294967295"/>
          </p:nvPr>
        </p:nvSpPr>
        <p:spPr>
          <a:xfrm>
            <a:off x="311700" y="1516989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Dynamically allocates wealth into different kinds of bonds based on investor’s input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Evaluates investor’s tax situation and manually invests in bonds where the returns are tax optimized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Creates a fixed income stream through coupons while wealth remains invested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Simulates multiple scenarios of pre-tax vs after-tax income generation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Shows how yield to maturity of an investment changes with time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Measures average portfolio ratings and duration to estimate credit and interest-rate risk exposure of the investment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scenario model in action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1443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A base model which takes user inputs to come up with bonds where investment can be made</a:t>
            </a:r>
            <a:endParaRPr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solidFill>
                  <a:schemeClr val="dk1"/>
                </a:solidFill>
              </a:rPr>
              <a:t>Multiple scenarios of returns based on manually selected bonds and their weightages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75" y="2857231"/>
            <a:ext cx="4086249" cy="193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1" y="2857225"/>
            <a:ext cx="4231028" cy="1932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2"/>
          <p:cNvCxnSpPr/>
          <p:nvPr/>
        </p:nvCxnSpPr>
        <p:spPr>
          <a:xfrm>
            <a:off x="4551275" y="2596350"/>
            <a:ext cx="20400" cy="228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2"/>
          <p:cNvSpPr txBox="1"/>
          <p:nvPr/>
        </p:nvSpPr>
        <p:spPr>
          <a:xfrm>
            <a:off x="1022250" y="1484950"/>
            <a:ext cx="619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Approach to Investing in Bonds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883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0000" lnSpcReduction="10000"/>
          </a:bodyPr>
          <a:lstStyle/>
          <a:p>
            <a:pPr marL="457200" lvl="0" indent="-321945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Investing in Bonds through ETFs</a:t>
            </a:r>
            <a:endParaRPr/>
          </a:p>
          <a:p>
            <a:pPr marL="457200" lvl="0" indent="-321945" algn="l" rtl="0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Portfolio optimization can be performed through risk-reward analysis using the efficient frontier model</a:t>
            </a:r>
            <a:endParaRPr/>
          </a:p>
          <a:p>
            <a:pPr marL="457200" lvl="0" indent="-321945" algn="l" rtl="0">
              <a:spcBef>
                <a:spcPts val="1000"/>
              </a:spcBef>
              <a:spcAft>
                <a:spcPts val="1000"/>
              </a:spcAft>
              <a:buSzPct val="100000"/>
              <a:buChar char="•"/>
            </a:pPr>
            <a:r>
              <a:rPr lang="en"/>
              <a:t>Laddering approach of investment already handled by fund manager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253725" y="2340200"/>
            <a:ext cx="3039000" cy="22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invest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reduced as investment can be made into multiple bonds with a purchase of an ETF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Expense Ratio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Liquid - Can be traded on Exchange through broker account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3378775" y="2340200"/>
            <a:ext cx="2442600" cy="23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it work?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Investment can be made using ETFs that manage a bucket of bonds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Coupons are paid as dividends at the beginning of the 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added as a stock to the SMA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6101175" y="2417275"/>
            <a:ext cx="2797800" cy="23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is Risk Managed?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on investment can be determined through Efficient Frontier graph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Unsystematic risk is already managed by fund manager of the ETF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628650" y="2300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Go-To-Market: A Scalable SMA Tool</a:t>
            </a:r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Phases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Introduce laddered bond portfolio scenarios as an SMA tool based on investor profile. 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Diversify “Core+” asset-classes beyond “Core”.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Leverage in-house teams to integrate financial model </a:t>
            </a: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Technology Upgrade</a:t>
            </a:r>
            <a:endParaRPr/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Programing language - Python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Real time asset-class pricing data - MarketAccess, Bloomberg, S&amp;P, etc. 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Workload automation tools - AutoSys &amp; Jenkins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Project Management - JIRA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28650" y="1972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Expansion and Long-Term Success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Product Offering Diversification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35" b="1"/>
              <a:t>Core</a:t>
            </a:r>
            <a:endParaRPr sz="1435" b="1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US Treasury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Corporate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Municipal Bonds</a:t>
            </a: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35" b="1"/>
              <a:t>Core+</a:t>
            </a:r>
            <a:endParaRPr sz="1435" b="1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Zero-Coupon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High-Yield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International Government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Green Bonds</a:t>
            </a:r>
            <a:endParaRPr sz="1200"/>
          </a:p>
          <a:p>
            <a:pPr marL="457200" marR="0" lvl="0" indent="-29337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/>
              <a:t>Other Fixed Income Products</a:t>
            </a:r>
            <a:endParaRPr sz="1200" b="1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200" b="1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Benchmarking </a:t>
            </a:r>
            <a:endParaRPr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Bloomberg Municipal Index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Compare performance to Deepak’s Historical Model</a:t>
            </a:r>
            <a:endParaRPr sz="1200"/>
          </a:p>
          <a:p>
            <a:pPr marL="457200" marR="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/>
              <a:t>Scale Investor Risk Tolerance Profile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body" idx="4294967295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dk1"/>
                </a:solidFill>
              </a:rPr>
              <a:t>Thank You</a:t>
            </a:r>
            <a:endParaRPr sz="3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PresentationFormat>On-screen Show (16:9)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Arial</vt:lpstr>
      <vt:lpstr>Roboto</vt:lpstr>
      <vt:lpstr>Office Theme</vt:lpstr>
      <vt:lpstr>A Fresh Look At Bond Investments  In A Changing Economy</vt:lpstr>
      <vt:lpstr>Agenda</vt:lpstr>
      <vt:lpstr>Goldman Sachs Challenge</vt:lpstr>
      <vt:lpstr>Investing In An Uncertain Economy</vt:lpstr>
      <vt:lpstr>Reassurance in Market Volatility</vt:lpstr>
      <vt:lpstr>Bonds: A Low Risk Investment Vehicle</vt:lpstr>
      <vt:lpstr>A Fixed Income Portfolio Model To The Rescue</vt:lpstr>
      <vt:lpstr>Scenario Testing for Portfolio Optimization and Risk Management with Uncertain Markets</vt:lpstr>
      <vt:lpstr>3 scenario model in action</vt:lpstr>
      <vt:lpstr>Alternative Approach to Investing in Bonds</vt:lpstr>
      <vt:lpstr>Go-To-Market: A Scalable SMA Tool</vt:lpstr>
      <vt:lpstr>Expansion and Long-Term Success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Winans</dc:creator>
  <cp:lastModifiedBy>Michael Winans</cp:lastModifiedBy>
  <cp:revision>1</cp:revision>
  <dcterms:modified xsi:type="dcterms:W3CDTF">2025-05-14T15:42:07Z</dcterms:modified>
</cp:coreProperties>
</file>